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19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2104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1832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6696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06424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612880" y="4572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2104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6968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1832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6696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06424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612880" y="146304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6968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1832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96696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06424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612880" y="246888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6968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41832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6696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51560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06424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612880" y="347472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2104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6968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41832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6696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51560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06424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612880" y="448056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2104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86968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41832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96696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51560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06424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612880" y="5486400"/>
            <a:ext cx="411480" cy="731520"/>
          </a:xfrm>
          <a:prstGeom prst="rect">
            <a:avLst/>
          </a:prstGeom>
          <a:solidFill>
            <a:srgbClr val="1A3A6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8640" y="1097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548640" y="2011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</a:t>
            </a:r>
            <a:endParaRPr lang="en-US" sz="6000" dirty="0"/>
          </a:p>
        </p:txBody>
      </p:sp>
      <p:sp>
        <p:nvSpPr>
          <p:cNvPr id="53" name="Text 51"/>
          <p:cNvSpPr/>
          <p:nvPr/>
        </p:nvSpPr>
        <p:spPr>
          <a:xfrm>
            <a:off x="548640" y="3200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State as a Framework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Urban-Rural Dynamics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548640" y="425196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 |   March 2026   |   Springboard Capstone Two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046720" y="5394960"/>
            <a:ext cx="1234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046720" y="539496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046720" y="5486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186K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8046720" y="5989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Records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464040" y="5394960"/>
            <a:ext cx="1234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464040" y="539496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464040" y="5486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9464040" y="5989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881360" y="5394960"/>
            <a:ext cx="1234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0881360" y="539496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881360" y="5486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10881360" y="5989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Is Not Uniform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market is growing — but geography fragments the opportunity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Problem Statement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4290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429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6304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adoption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underway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364992"/>
            <a:ext cx="288036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Seattle, Tacoma, Bellingham — dense infrastructure, premium buyers, near saturation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1234440"/>
            <a:ext cx="34290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06240" y="1234440"/>
            <a:ext cx="3429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46304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20624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signals,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480560" y="3364992"/>
            <a:ext cx="288036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389120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Bellevue, Kirkland, Spokane Valley — predictable commutes, TCO-driven decisions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955280" y="1234440"/>
            <a:ext cx="34290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955280" y="1234440"/>
            <a:ext cx="342900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46304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552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795528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anxiety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229600" y="3364992"/>
            <a:ext cx="288036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8138160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WA: Okanogan, Ferry, Pend Oreille — sparse DCFC, long distances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5532120"/>
            <a:ext cx="11274552" cy="594360"/>
          </a:xfrm>
          <a:prstGeom prst="rect">
            <a:avLst/>
          </a:prstGeom>
          <a:solidFill>
            <a:srgbClr val="0F2A4A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31520" y="55778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national strategy cannot address fundamentally different adoption dynamics — this project uses Washington State as an analytical proxy.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 Guided This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Objectives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11880" cy="4846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24028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063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Market Zones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54480" y="370332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8404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 least three distinct Washington State market zones differentiated by EV adoption drivers — urban, suburban, and rural.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5968" y="1234440"/>
            <a:ext cx="3611880" cy="4846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15968" y="1234440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15968" y="1371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240280"/>
            <a:ext cx="685800" cy="685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3128" y="3063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13248" y="370332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498848" y="38404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 between vehicle price, model year, and electric range using regression algorithms trained on 186K registrations.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74736" y="1234440"/>
            <a:ext cx="3611880" cy="4846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174736" y="1234440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174736" y="1371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224028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11896" y="3063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Go-to-Market Strategy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272016" y="370332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357616" y="38404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targeted strategies for each zone, grounded in what the data can and cannot support — with honest scope boundaries.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Constraints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was built on — and what was missing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394960" cy="4846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539496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512064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0552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20208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EV Population Dataset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~186,000 vehicle registrations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512064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3639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30266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base_msrp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156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— in the model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977640"/>
            <a:ext cx="512064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422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40325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model_year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— in the model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4983480"/>
            <a:ext cx="512064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4807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5038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Specs Dataset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51560" y="5394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472 models, technical specifications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17920" y="1234440"/>
            <a:ext cx="5577840" cy="484632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217920" y="1234440"/>
            <a:ext cx="557784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Never Merged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6355080" y="1965960"/>
            <a:ext cx="5303520" cy="822960"/>
          </a:xfrm>
          <a:prstGeom prst="rect">
            <a:avLst/>
          </a:prstGeom>
          <a:solidFill>
            <a:srgbClr val="2D1B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3055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03720" y="20208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battery_capacity_kWh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90372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analytically — never entered the model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355080" y="2971800"/>
            <a:ext cx="5303520" cy="822960"/>
          </a:xfrm>
          <a:prstGeom prst="rect">
            <a:avLst/>
          </a:prstGeom>
          <a:solidFill>
            <a:srgbClr val="2D1B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36392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03720" y="30266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fast_charge_power_kw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903720" y="3383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analytically — never entered the model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355080" y="3977640"/>
            <a:ext cx="5303520" cy="822960"/>
          </a:xfrm>
          <a:prstGeom prst="rect">
            <a:avLst/>
          </a:prstGeom>
          <a:solidFill>
            <a:srgbClr val="2D1B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42232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903720" y="40325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top_speed_kmh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90372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analytically — never entered the model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309360" y="5029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limitation: the two datasets were analyzed in parallel but never joined.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5331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fragments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4300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" y="1572768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8892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353312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37744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186K registrations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 spec dataset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06324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0632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572768"/>
            <a:ext cx="320040" cy="3200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0916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53312"/>
            <a:ext cx="594360" cy="5943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9768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29768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patterns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98348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572768"/>
            <a:ext cx="320040" cy="32004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2940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1353312"/>
            <a:ext cx="594360" cy="5943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1792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621792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MSRP + model year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of 5 selected)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90372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69037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572768"/>
            <a:ext cx="320040" cy="32004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54964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1353312"/>
            <a:ext cx="594360" cy="5943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13816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36" name="Text 25"/>
          <p:cNvSpPr/>
          <p:nvPr/>
        </p:nvSpPr>
        <p:spPr>
          <a:xfrm>
            <a:off x="813816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RF,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882396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7"/>
          <p:cNvSpPr/>
          <p:nvPr/>
        </p:nvSpPr>
        <p:spPr>
          <a:xfrm>
            <a:off x="88239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2" y="1572768"/>
            <a:ext cx="320040" cy="320040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10469880" y="1188720"/>
            <a:ext cx="1005840" cy="100584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760" y="1353312"/>
            <a:ext cx="594360" cy="59436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0584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00" dirty="0"/>
          </a:p>
        </p:txBody>
      </p:sp>
      <p:sp>
        <p:nvSpPr>
          <p:cNvPr id="43" name="Text 30"/>
          <p:cNvSpPr/>
          <p:nvPr/>
        </p:nvSpPr>
        <p:spPr>
          <a:xfrm>
            <a:off x="100584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3-zone go-to-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framework</a:t>
            </a:r>
            <a:endParaRPr lang="en-US" sz="1050" dirty="0"/>
          </a:p>
        </p:txBody>
      </p:sp>
      <p:sp>
        <p:nvSpPr>
          <p:cNvPr id="44" name="Shape 31"/>
          <p:cNvSpPr/>
          <p:nvPr/>
        </p:nvSpPr>
        <p:spPr>
          <a:xfrm>
            <a:off x="10744200" y="10515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2"/>
          <p:cNvSpPr/>
          <p:nvPr/>
        </p:nvSpPr>
        <p:spPr>
          <a:xfrm>
            <a:off x="10744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Shape 33"/>
          <p:cNvSpPr/>
          <p:nvPr/>
        </p:nvSpPr>
        <p:spPr>
          <a:xfrm>
            <a:off x="868680" y="1673352"/>
            <a:ext cx="10469880" cy="365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4"/>
          <p:cNvSpPr/>
          <p:nvPr/>
        </p:nvSpPr>
        <p:spPr>
          <a:xfrm>
            <a:off x="457200" y="3749040"/>
            <a:ext cx="11274552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5"/>
          <p:cNvSpPr/>
          <p:nvPr/>
        </p:nvSpPr>
        <p:spPr>
          <a:xfrm>
            <a:off x="457200" y="3749040"/>
            <a:ext cx="73152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6"/>
          <p:cNvSpPr/>
          <p:nvPr/>
        </p:nvSpPr>
        <p:spPr>
          <a:xfrm>
            <a:off x="685800" y="3840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 That Shaped Modeling</a:t>
            </a:r>
            <a:endParaRPr lang="en-US" sz="1500" dirty="0"/>
          </a:p>
        </p:txBody>
      </p:sp>
      <p:sp>
        <p:nvSpPr>
          <p:cNvPr id="50" name="Text 37"/>
          <p:cNvSpPr/>
          <p:nvPr/>
        </p:nvSpPr>
        <p:spPr>
          <a:xfrm>
            <a:off x="685800" y="43708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dominates EV registrations — geographic concentration is extreme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685800" y="4919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commands a winner-take-most market share — meaningful for differentiation strategy</a:t>
            </a:r>
            <a:endParaRPr lang="en-US" sz="1200" dirty="0"/>
          </a:p>
        </p:txBody>
      </p:sp>
      <p:sp>
        <p:nvSpPr>
          <p:cNvPr id="52" name="Text 39"/>
          <p:cNvSpPr/>
          <p:nvPr/>
        </p:nvSpPr>
        <p:spPr>
          <a:xfrm>
            <a:off x="685800" y="5468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showed weak linear relationships → ensemble models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Is Highly Concentrated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dominates — geographic clustering shapes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EDA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WA state EV registrations are in King County alone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35661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Counties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62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King, Snohomish, and Pierce account for the vast majority of the market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35661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59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Okanogan, Ferry, Pend Oreille show near-zero penetration — the rural gap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99432"/>
            <a:ext cx="35661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056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segmentation is not optional — it is the strategy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704088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7040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Top 15 County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74336" y="2103120"/>
            <a:ext cx="695960" cy="22494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 rot="1800000">
            <a:off x="493776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6016" y="3497763"/>
            <a:ext cx="695960" cy="854781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 rot="1800000">
            <a:off x="567944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Snohomish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57696" y="3722705"/>
            <a:ext cx="695960" cy="629839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 rot="1800000">
            <a:off x="642112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99376" y="4015130"/>
            <a:ext cx="695960" cy="337414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 rot="1800000">
            <a:off x="716280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41056" y="4082613"/>
            <a:ext cx="695960" cy="269931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 rot="1800000">
            <a:off x="790448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Thurston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682736" y="4127602"/>
            <a:ext cx="695960" cy="224942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 rot="1800000">
            <a:off x="864616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Kitsap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24416" y="4150096"/>
            <a:ext cx="695960" cy="202448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 rot="1800000">
            <a:off x="938784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Whatcom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166096" y="4172590"/>
            <a:ext cx="695960" cy="179954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 rot="1800000">
            <a:off x="1012952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Spokane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907776" y="4240073"/>
            <a:ext cx="695960" cy="112471"/>
          </a:xfrm>
          <a:prstGeom prst="rect">
            <a:avLst/>
          </a:prstGeom>
          <a:solidFill>
            <a:srgbClr val="2D6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 rot="1800000">
            <a:off x="10871200" y="4407408"/>
            <a:ext cx="78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Skagit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4352544"/>
            <a:ext cx="667512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(Identify category dominance or imbalance)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Is Winner-Take-Most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dominates — compete on differentiation, not head-on volume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EDA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731520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7315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Top 15 Make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007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(Identify category dominance or imbalance)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" y="2103120"/>
            <a:ext cx="640080" cy="29535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 rot="1800000">
            <a:off x="548640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0" y="4406859"/>
            <a:ext cx="640080" cy="649773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 rot="1800000">
            <a:off x="1243584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75104" y="4525000"/>
            <a:ext cx="640080" cy="531632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800000">
            <a:off x="1938528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70048" y="4613605"/>
            <a:ext cx="640080" cy="443027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 rot="1800000">
            <a:off x="2633472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64992" y="4702211"/>
            <a:ext cx="640080" cy="354421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 rot="1800000">
            <a:off x="3328416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59936" y="4761281"/>
            <a:ext cx="640080" cy="295351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 rot="1800000">
            <a:off x="4023360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4820351"/>
            <a:ext cx="640080" cy="236281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 rot="1800000">
            <a:off x="4718304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9824" y="4849886"/>
            <a:ext cx="640080" cy="206746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 rot="1800000">
            <a:off x="5413248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44768" y="4879421"/>
            <a:ext cx="640080" cy="177211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 rot="1800000">
            <a:off x="6108192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39712" y="4908956"/>
            <a:ext cx="640080" cy="147676"/>
          </a:xfrm>
          <a:prstGeom prst="rect">
            <a:avLst/>
          </a:prstGeom>
          <a:solidFill>
            <a:srgbClr val="2D5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 rot="1800000">
            <a:off x="6803136" y="512612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5056632"/>
            <a:ext cx="694944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55280" y="1234440"/>
            <a:ext cx="384048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55280" y="1234440"/>
            <a:ext cx="38404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3816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dominance is structural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38160" y="22860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on volume against Tesla in urban WA requires massive capital. Differentiate instead.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3246120"/>
            <a:ext cx="352044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38160" y="3383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segment is not one market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138160" y="3794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Chevrolet, Nissan, and Ford serve different buyer profiles — the "EV market" is several markets.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754880"/>
            <a:ext cx="352044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38160" y="4892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= untested territory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138160" y="5303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WA make data is sparse. This is an open opportunity, not a saturated market.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Linear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correlations confirm the need for ensemble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EDA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94360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59436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Numeric Variables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9568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05840" y="182880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8288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0020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18288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18288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8892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8288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18288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77640" y="18288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 rot="1800000">
            <a:off x="100584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25511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05840" y="242316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00200" y="242316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0020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242316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9456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242316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8892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242316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77640" y="242316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77640" y="24231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 rot="1800000">
            <a:off x="160020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7472" y="31455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Range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05840" y="301752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84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00200" y="301752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0020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94560" y="301752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19456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88920" y="301752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8892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83280" y="301752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8328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77640" y="301752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77640" y="301752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 rot="1800000">
            <a:off x="219456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Range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37398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MSRP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05840" y="361188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0584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00200" y="361188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0020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94560" y="3611880"/>
            <a:ext cx="557784" cy="5577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19456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88920" y="361188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8892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383280" y="361188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38328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77640" y="361188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977640" y="361188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 rot="1800000">
            <a:off x="278892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MSRP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47472" y="433425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 Vehicle ID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05840" y="420624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0584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600200" y="420624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60020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194560" y="420624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19456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88920" y="420624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78892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383280" y="420624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38328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977640" y="420624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977640" y="420624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 rot="1800000">
            <a:off x="338328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 Vehicle ID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47472" y="49286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05840" y="48006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00584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00200" y="48006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60020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194560" y="48006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19456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788920" y="48006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78892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383280" y="4800600"/>
            <a:ext cx="557784" cy="557784"/>
          </a:xfrm>
          <a:prstGeom prst="rect">
            <a:avLst/>
          </a:prstGeom>
          <a:solidFill>
            <a:srgbClr val="EF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38328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977640" y="4800600"/>
            <a:ext cx="557784" cy="557784"/>
          </a:xfrm>
          <a:prstGeom prst="rect">
            <a:avLst/>
          </a:prstGeom>
          <a:solidFill>
            <a:srgbClr val="00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977640" y="480060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 rot="1800000">
            <a:off x="3977640" y="5431536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583680" y="1234440"/>
            <a:ext cx="521208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583680" y="1234440"/>
            <a:ext cx="521208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67512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Heatmap Tells Us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672084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MSRP ↔ Range: moderate (0.59)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6720840" y="2286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range are related but not strongly — justifies a non-linear approach.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720840" y="2971800"/>
            <a:ext cx="489204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72084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 ↔ Range: moderate (0.51)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6720840" y="3429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vehicles have more range, but year alone doesn't explain it well.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720840" y="4114800"/>
            <a:ext cx="489204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720840" y="4206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= near zero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720840" y="4572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 shows almost no linear correlation with other features — spatial patterns are complex.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720840" y="5257800"/>
            <a:ext cx="489204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720840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linear predictors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6720840" y="5715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dominates. This is the empirical case for Random Forest over Linear Regression.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Modeling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from exploratory analysis determined modeling strategy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73152" cy="1417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08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Patterns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 (max 0.62)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features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74520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57800" y="1417320"/>
            <a:ext cx="6492240" cy="1417320"/>
          </a:xfrm>
          <a:prstGeom prst="rect">
            <a:avLst/>
          </a:prstGeom>
          <a:solidFill>
            <a:srgbClr val="0F2A4A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40680" y="150876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implication: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40680" y="1801368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Gradient Boost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" y="306324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063240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204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Clustering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Urban/suburban/rural adoption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differ structurally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520440"/>
            <a:ext cx="502920" cy="5029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257800" y="3063240"/>
            <a:ext cx="6492240" cy="1417320"/>
          </a:xfrm>
          <a:prstGeom prst="rect">
            <a:avLst/>
          </a:prstGeom>
          <a:solidFill>
            <a:srgbClr val="0F2A4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440680" y="31546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implication: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40680" y="3447288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strategy rather than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national model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65760" y="470916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65760" y="4709160"/>
            <a:ext cx="73152" cy="14173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1663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4800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97280" y="5212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winner-take-most;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ICE-to-EV conversion still large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5166360"/>
            <a:ext cx="502920" cy="5029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257800" y="4709160"/>
            <a:ext cx="6492240" cy="1417320"/>
          </a:xfrm>
          <a:prstGeom prst="rect">
            <a:avLst/>
          </a:prstGeom>
          <a:solidFill>
            <a:srgbClr val="0F2A4A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5440680" y="48006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implication: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440680" y="5093208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across segments,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volume competition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— same two features: base_msrp and model_year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Modeling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70332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70332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0.294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097280" y="3127248"/>
            <a:ext cx="224028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45.47 mi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2697480" cy="347472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5720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price-range relationship. Fails to capture non-linear dynamics confirmed by EDA.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234440"/>
            <a:ext cx="3703320" cy="489204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0" y="1234440"/>
            <a:ext cx="370332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234440"/>
            <a:ext cx="370332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34840" y="1417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5029200" y="3127248"/>
            <a:ext cx="224028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35478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22.58 mi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800600" y="4114800"/>
            <a:ext cx="269748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41148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5720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structure. Best MAE of ensemble methods. Reproducible (random_state=42).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1234440"/>
            <a:ext cx="370332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1234440"/>
            <a:ext cx="370332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66760" y="1417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676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6676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4200" dirty="0"/>
          </a:p>
        </p:txBody>
      </p:sp>
      <p:sp>
        <p:nvSpPr>
          <p:cNvPr id="36" name="Shape 34"/>
          <p:cNvSpPr/>
          <p:nvPr/>
        </p:nvSpPr>
        <p:spPr>
          <a:xfrm>
            <a:off x="8961120" y="3127248"/>
            <a:ext cx="224028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35478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22.70 mi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732520" y="4114800"/>
            <a:ext cx="2697480" cy="347472"/>
          </a:xfrm>
          <a:prstGeom prst="rect">
            <a:avLst/>
          </a:prstGeom>
          <a:solidFill>
            <a:srgbClr val="4A3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32520" y="41148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66760" y="45720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R² to Random Forest (0.7382), but marginally higher MAE (22.70 vs 22.58). Passed over on this basis alone.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 · random_state=42 · target: electric_range in miles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Modeling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94360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59436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Comparison (lower = better)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10196"/>
            <a:ext cx="1554480" cy="291044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627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937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3675339"/>
            <a:ext cx="1554480" cy="1445301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3327867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51937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3667658"/>
            <a:ext cx="1554480" cy="145298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332018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51937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539496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 rot="5400000">
            <a:off x="182880" y="352044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error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1234440"/>
            <a:ext cx="5212080" cy="22860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1234440"/>
            <a:ext cx="52120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Number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 pts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67512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gap: Linear (0.294) → Random Forest (0.738)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907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explain 73.8% of range variance across 186K registrations.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703320"/>
            <a:ext cx="5212080" cy="242316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0" y="3703320"/>
            <a:ext cx="64008" cy="2423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37947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Strategy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224528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Price-range relationship is non-linear. Incentive structures based on linear price reductions are less effective than threshold-based interventions that move buyers from one range tier to the next.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Key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electric range variance explained by just two features: base_msrp + model_year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5788152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657600" cy="2606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36576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44.4-point R² gap confirms price-range is non-linear. Linear models are insufficient.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3520440"/>
            <a:ext cx="3657600" cy="2606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0832" y="3520440"/>
            <a:ext cx="36576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7992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is meaningful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available, buyer-facing data points carry real signal — a useful, reproducible baseline.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3520440"/>
            <a:ext cx="3657600" cy="2606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84464" y="3520440"/>
            <a:ext cx="36576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21624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limits are real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1624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not isolated. Three selected features never trained. Interpretability gaps remain.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analysis can and cannot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Limitations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64008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Two-feature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battery_capacity_kWh, fast_charge_power_kw, and top_speed_kmh were selected but never trained on. Their effect is hypothesized, not measured.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64008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importance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contribution of base_msrp vs. model_year to R²=0.738 was not measured. No SHAP, no permutation importance, no ablation testing.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0916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ran on scikit-learn defaults. Tuned Random Forest may perform meaningfully differently.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32588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325880"/>
            <a:ext cx="64008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4173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never merged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Specs (472 models, tech specs) and WA Population (186K registrations) were analyzed in parallel — never joined on vehicle make/model.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5080" y="301752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5204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is not a validated national proxy. Price thresholds and infrastructure gaps differ in Texas, Florida, and the Mountain West.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470916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470916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48006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adoption target variable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2120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electric_range was used as a proxy. Actual adoption — registration growth rates or market penetration by zone — was never modeled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modeling results mean for market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Strategy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74904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74904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1732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· Tacoma · Bellingham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2461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Barrier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639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market saturation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Strategy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55371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models + fleet electrification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5833872"/>
            <a:ext cx="274320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5833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 FLEET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97680" y="1234440"/>
            <a:ext cx="374904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97680" y="1234440"/>
            <a:ext cx="37490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417320"/>
            <a:ext cx="777240" cy="7772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97680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438912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Bellevue · Kirkland · Spokane Valley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0" y="32461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Barrier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434840" y="3639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72000" y="41605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4348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Strategy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434840" y="455371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EVs (&lt;$35K) + TCO messaging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00600" y="5833872"/>
            <a:ext cx="274320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800600" y="5833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THRESHOLD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8229600" y="1234440"/>
            <a:ext cx="3749040" cy="489204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8229600" y="1234440"/>
            <a:ext cx="374904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417320"/>
            <a:ext cx="777240" cy="7772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229600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2600" dirty="0"/>
          </a:p>
        </p:txBody>
      </p:sp>
      <p:sp>
        <p:nvSpPr>
          <p:cNvPr id="38" name="Text 33"/>
          <p:cNvSpPr/>
          <p:nvPr/>
        </p:nvSpPr>
        <p:spPr>
          <a:xfrm>
            <a:off x="832104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Okanogan · Ferry · Pend Oreille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503920" y="32461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Barrier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366760" y="3639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anxiety + no DCFC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503920" y="4160520"/>
            <a:ext cx="3200400" cy="27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36676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Strategy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366760" y="455371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High-range vehicles + DCFC corridor investment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8732520" y="5833872"/>
            <a:ext cx="274320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8732520" y="5833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FIRST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Zone-specific actions — data-supported vs. directional labeled explicitly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Strategy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1430000" cy="1536192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91440" cy="15361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399032"/>
            <a:ext cx="137160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99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WA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856232"/>
            <a:ext cx="1371600" cy="25603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856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Data-supported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1307592"/>
            <a:ext cx="4572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 confirms range threshold effects — incremental price cuts are less effective than reaching a range floor that resolves anxiety.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1234440"/>
            <a:ext cx="36576" cy="15361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1307592"/>
            <a:ext cx="1463040" cy="256032"/>
          </a:xfrm>
          <a:prstGeom prst="rect">
            <a:avLst/>
          </a:prstGeom>
          <a:solidFill>
            <a:srgbClr val="2A1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307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Directional actions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9440" y="163677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DCFC subsidies (150 kW min) to I-90 east of Ellensburg, US-2 through Wenatchee, US-395 through Okanogan corridor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216712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SUV/light truck segments in rural dealer inventory (range + tow capacity are co-requirements)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11430000" cy="1536192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91440" cy="15361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063240"/>
            <a:ext cx="137160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WA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520440"/>
            <a:ext cx="1371600" cy="25603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Data-supported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57400" y="2971800"/>
            <a:ext cx="4572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 structure implies price thresholds matter more than linear discounts — buyers just below a breakpoint behave differently than those within a tier.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2898648"/>
            <a:ext cx="36576" cy="15361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9440" y="2971800"/>
            <a:ext cx="1463040" cy="256032"/>
          </a:xfrm>
          <a:prstGeom prst="rect">
            <a:avLst/>
          </a:prstGeom>
          <a:solidFill>
            <a:srgbClr val="2A1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Directional actions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33009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campaigns comparing 5-year fuel + maintenance costs for EVs vs. equivalent ICE vehicles, front-loading post-credit purchase price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383133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inventory and incentives on vehicles at or below $35K MSRP qualifying for the federal $7,500 tax credit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562856"/>
            <a:ext cx="11430000" cy="1536192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4562856"/>
            <a:ext cx="91440" cy="15361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" y="4727448"/>
            <a:ext cx="137160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727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184648"/>
            <a:ext cx="1371600" cy="25603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5184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Data-supported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57400" y="4636008"/>
            <a:ext cx="4572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 of recent model_year registrations in urban zones is consistent with faster technology turnover in higher-income, higher-density markets.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4562856"/>
            <a:ext cx="36576" cy="15361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949440" y="4636008"/>
            <a:ext cx="1463040" cy="256032"/>
          </a:xfrm>
          <a:prstGeom prst="rect">
            <a:avLst/>
          </a:prstGeom>
          <a:solidFill>
            <a:srgbClr val="2A1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9440" y="4636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Directional actions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49440" y="49651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electrification partnerships with City of Seattle, King County Metro, and ride-share operators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49440" y="549554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Premium/performance EV positioning (MSRP &gt;$55K) in urban retail channels where buyer profiles skew technology-forward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expected impact on closing the gap between hypothesis and evidence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  |  Future Research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640080" cy="640080"/>
          </a:xfrm>
          <a:prstGeom prst="lin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datasets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1856232"/>
            <a:ext cx="91440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 Specs and WA Population on vehicle make/model. This enables all five selected features to be trained in a single model. Highest-priority next step.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640080" cy="64008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3547872"/>
            <a:ext cx="91440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38404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built-in impurity-based importance for base_msrp and model_year. Add SHAP values for interpretability. Determines which feature is doing the work.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640080" cy="64008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48006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testing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5239512"/>
            <a:ext cx="91440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440" y="5239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34440" y="55321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single-feature models to establish the marginal contribution of model_year over base_msrp alone — a gap the current analysis leaves open.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132588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46520" y="1783080"/>
            <a:ext cx="640080" cy="6400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1417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23760" y="1856232"/>
            <a:ext cx="91440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2376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across n_estimators, max_depth, min_samples_split. Determine if default Random Forest is near-optimal or leaving performance on the table.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301752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46520" y="3474720"/>
            <a:ext cx="640080" cy="6400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23760" y="3108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proxy target variable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23760" y="3547872"/>
            <a:ext cx="91440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23760" y="38404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electric_range for a direct adoption measure — annual registration growth rate by ZIP code — to model actual market penetration.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4709160"/>
            <a:ext cx="56692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46520" y="5166360"/>
            <a:ext cx="640080" cy="6400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46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23760" y="48006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DCFC spatial feature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223760" y="5239512"/>
            <a:ext cx="91440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23760" y="5239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223760" y="55321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county-level DCFC station density from the AFDC database. Enables the infrastructure-adoption hypothesis to be tested in the model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Foundation,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Set of Conclusions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4864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built here — a reproducible modeling pipeline, a clearly scoped feature set, and an honest accounting of what was and was not measured — is more useful as a starting point than a set of overconfident conclusions would be.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version of this analysis, with a merged dataset and feature importance analysis, is positioned to make claims the current version cannot.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1097280"/>
            <a:ext cx="3200400" cy="4389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0" y="1097280"/>
            <a:ext cx="32004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32520" y="1234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1783080"/>
            <a:ext cx="3063240" cy="6217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2396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23960" y="2075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2734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32520" y="3099816"/>
            <a:ext cx="3063240" cy="6217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23960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924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22.58 mi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960" y="3803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Linear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050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+44.4 pts R²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32520" y="4416552"/>
            <a:ext cx="3063240" cy="6217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23960" y="4462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09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Zones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367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Michel  |  EV Market Entry Analysis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2113</Words>
  <Application>Microsoft Office PowerPoint</Application>
  <PresentationFormat>Widescreen</PresentationFormat>
  <Paragraphs>388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EV Market Entry — Washington State</dc:title>
  <dc:subject>PptxGenJS Presentation</dc:subject>
  <dc:creator>Terence Michel</dc:creator>
  <cp:lastModifiedBy>Terence Michel</cp:lastModifiedBy>
  <cp:revision>2</cp:revision>
  <dcterms:created xsi:type="dcterms:W3CDTF">2026-04-01T02:43:42Z</dcterms:created>
  <dcterms:modified xsi:type="dcterms:W3CDTF">2026-04-01T11:17:29Z</dcterms:modified>
</cp:coreProperties>
</file>